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103120"/>
            <a:ext cx="10515600" cy="1463040"/>
          </a:xfrm>
        </p:spPr>
        <p:txBody>
          <a:bodyPr/>
          <a:lstStyle>
            <a:lvl1pPr algn="l"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749039"/>
            <a:ext cx="10515600" cy="109728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59536" y="1874519"/>
            <a:ext cx="502920" cy="54864"/>
          </a:xfrm>
          <a:prstGeom prst="rect">
            <a:avLst/>
          </a:prstGeom>
          <a:solidFill>
            <a:srgbClr val="455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66928"/>
            <a:ext cx="10881360" cy="777240"/>
          </a:xfrm>
        </p:spPr>
        <p:txBody>
          <a:bodyPr/>
          <a:lstStyle>
            <a:lvl1pPr algn="l"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881360" y="6263640"/>
            <a:ext cx="6400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76656" y="411480"/>
            <a:ext cx="502920" cy="54864"/>
          </a:xfrm>
          <a:prstGeom prst="rect">
            <a:avLst/>
          </a:prstGeom>
          <a:solidFill>
            <a:srgbClr val="455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0">
                <a:solidFill>
                  <a:srgbClr val="1F2933"/>
                </a:solidFill>
                <a:latin typeface="Aptos Display"/>
              </a:rPr>
              <a:t>Book Lending Platform for a Neighbourhood Library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 b="0">
                <a:solidFill>
                  <a:srgbClr val="6B7785"/>
                </a:solidFill>
                <a:latin typeface="Aptos"/>
              </a:rPr>
              <a:t>Demo deck for morph-deck · fictional content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>
                <a:latin typeface="Aptos"/>
              </a:rPr>
              <a:t>‹#›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0">
                <a:solidFill>
                  <a:srgbClr val="1F2933"/>
                </a:solidFill>
                <a:latin typeface="Aptos Display"/>
              </a:rPr>
              <a:t>Lending today: two sources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>
                <a:latin typeface="Aptos"/>
              </a:rPr>
              <a:t>‹#›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722376" y="182880"/>
            <a:ext cx="5486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6B7785"/>
                </a:solidFill>
                <a:latin typeface="Aptos"/>
              </a:rPr>
              <a:t>CONTEXT</a:t>
            </a:r>
          </a:p>
        </p:txBody>
      </p:sp>
      <p:sp>
        <p:nvSpPr>
          <p:cNvPr id="5" name="!!src-sheet"/>
          <p:cNvSpPr/>
          <p:nvPr/>
        </p:nvSpPr>
        <p:spPr>
          <a:xfrm>
            <a:off x="676656" y="1691640"/>
            <a:ext cx="3108960" cy="3200400"/>
          </a:xfrm>
          <a:prstGeom prst="roundRect">
            <a:avLst>
              <a:gd name="adj" fmla="val 5000"/>
            </a:avLst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table_view_B35F1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92024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" y="2560320"/>
            <a:ext cx="2743200" cy="2194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B35F12"/>
                </a:solidFill>
                <a:latin typeface="Aptos"/>
              </a:rPr>
              <a:t>Spreadsheet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3"/>
                </a:solidFill>
                <a:latin typeface="Aptos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3"/>
                </a:solidFill>
                <a:latin typeface="Aptos"/>
              </a:rPr>
              <a:t>one file per year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3"/>
                </a:solidFill>
                <a:latin typeface="Aptos"/>
              </a:rPr>
              <a:t>copied by hand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3"/>
                </a:solidFill>
                <a:latin typeface="Aptos"/>
              </a:rPr>
              <a:t>no history of reminders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77056" y="3017520"/>
            <a:ext cx="4572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400" b="1" i="0">
                <a:solidFill>
                  <a:srgbClr val="6B7785"/>
                </a:solidFill>
                <a:latin typeface="Aptos"/>
              </a:rPr>
              <a:t>+</a:t>
            </a:r>
          </a:p>
        </p:txBody>
      </p:sp>
      <p:sp>
        <p:nvSpPr>
          <p:cNvPr id="9" name="!!src-card"/>
          <p:cNvSpPr/>
          <p:nvPr/>
        </p:nvSpPr>
        <p:spPr>
          <a:xfrm rot="21480000">
            <a:off x="4389120" y="1737360"/>
            <a:ext cx="3017520" cy="310896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C9CFD6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pSp>
        <p:nvGrpSpPr>
          <p:cNvPr id="10" name="Group 9"/>
          <p:cNvGrpSpPr/>
          <p:nvPr/>
        </p:nvGrpSpPr>
        <p:grpSpPr>
          <a:xfrm rot="21480000">
            <a:off x="4572000" y="1874519"/>
            <a:ext cx="2651760" cy="1600201"/>
            <a:chOff x="4572000" y="1874519"/>
            <a:chExt cx="2651760" cy="1600201"/>
          </a:xfrm>
        </p:grpSpPr>
        <p:sp>
          <p:nvSpPr>
            <p:cNvPr id="11" name="TextBox 10"/>
            <p:cNvSpPr txBox="1"/>
            <p:nvPr/>
          </p:nvSpPr>
          <p:spPr>
            <a:xfrm>
              <a:off x="4572000" y="1874519"/>
              <a:ext cx="2651760" cy="320040"/>
            </a:xfrm>
            <a:prstGeom prst="rect">
              <a:avLst/>
            </a:prstGeom>
            <a:noFill/>
          </p:spPr>
          <p:txBody>
            <a:bodyPr wrap="square" lIns="36576" rIns="36576" tIns="36576" bIns="36576" anchor="t">
              <a:spAutoFit/>
            </a:bodyPr>
            <a:lstStyle/>
            <a:p>
              <a:pPr algn="l"/>
              <a:r>
                <a:rPr sz="1300" b="1" i="0">
                  <a:solidFill>
                    <a:srgbClr val="1F2933"/>
                  </a:solidFill>
                  <a:latin typeface="Aptos"/>
                </a:rPr>
                <a:t>Ficha de empréstimo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4572000" y="2706624"/>
              <a:ext cx="2651760" cy="0"/>
            </a:xfrm>
            <a:prstGeom prst="line">
              <a:avLst/>
            </a:prstGeom>
            <a:ln w="9525">
              <a:solidFill>
                <a:srgbClr val="D5DB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617720" y="2377440"/>
              <a:ext cx="2560320" cy="320040"/>
            </a:xfrm>
            <a:prstGeom prst="rect">
              <a:avLst/>
            </a:prstGeom>
            <a:noFill/>
          </p:spPr>
          <p:txBody>
            <a:bodyPr wrap="square" lIns="36576" rIns="36576" tIns="36576" bIns="36576" anchor="t">
              <a:spAutoFit/>
            </a:bodyPr>
            <a:lstStyle/>
            <a:p>
              <a:pPr algn="l"/>
              <a:r>
                <a:rPr sz="1050" b="0" i="0">
                  <a:solidFill>
                    <a:srgbClr val="2B5CAB"/>
                  </a:solidFill>
                  <a:latin typeface="Segoe Print"/>
                </a:rPr>
                <a:t>Ana R. · 12/03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4572000" y="3090672"/>
              <a:ext cx="2651760" cy="0"/>
            </a:xfrm>
            <a:prstGeom prst="line">
              <a:avLst/>
            </a:prstGeom>
            <a:ln w="9525">
              <a:solidFill>
                <a:srgbClr val="D5DB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4617720" y="2761488"/>
              <a:ext cx="2560320" cy="320040"/>
            </a:xfrm>
            <a:prstGeom prst="rect">
              <a:avLst/>
            </a:prstGeom>
            <a:noFill/>
          </p:spPr>
          <p:txBody>
            <a:bodyPr wrap="square" lIns="36576" rIns="36576" tIns="36576" bIns="36576" anchor="t">
              <a:spAutoFit/>
            </a:bodyPr>
            <a:lstStyle/>
            <a:p>
              <a:pPr algn="l"/>
              <a:r>
                <a:rPr sz="1050" b="0" i="0">
                  <a:solidFill>
                    <a:srgbClr val="2B5CAB"/>
                  </a:solidFill>
                  <a:latin typeface="Segoe Print"/>
                </a:rPr>
                <a:t>O Principezinho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4572000" y="3474720"/>
              <a:ext cx="2651760" cy="0"/>
            </a:xfrm>
            <a:prstGeom prst="line">
              <a:avLst/>
            </a:prstGeom>
            <a:ln w="9525">
              <a:solidFill>
                <a:srgbClr val="D5DB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4617720" y="3145536"/>
              <a:ext cx="2560320" cy="320040"/>
            </a:xfrm>
            <a:prstGeom prst="rect">
              <a:avLst/>
            </a:prstGeom>
            <a:noFill/>
          </p:spPr>
          <p:txBody>
            <a:bodyPr wrap="square" lIns="36576" rIns="36576" tIns="36576" bIns="36576" anchor="t">
              <a:spAutoFit/>
            </a:bodyPr>
            <a:lstStyle/>
            <a:p>
              <a:pPr algn="l"/>
              <a:r>
                <a:rPr sz="1050" b="0" i="0">
                  <a:solidFill>
                    <a:srgbClr val="2B5CAB"/>
                  </a:solidFill>
                  <a:latin typeface="Segoe Print"/>
                </a:rPr>
                <a:t>devolvido 26/03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389120" y="4983480"/>
            <a:ext cx="3017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0" i="0">
                <a:solidFill>
                  <a:srgbClr val="6B7785"/>
                </a:solidFill>
                <a:latin typeface="Aptos"/>
              </a:rPr>
              <a:t>Loan card: one per book</a:t>
            </a:r>
          </a:p>
        </p:txBody>
      </p:sp>
      <p:sp>
        <p:nvSpPr>
          <p:cNvPr id="19" name="!!src-wait"/>
          <p:cNvSpPr/>
          <p:nvPr/>
        </p:nvSpPr>
        <p:spPr>
          <a:xfrm rot="90000">
            <a:off x="7818120" y="1737360"/>
            <a:ext cx="3017520" cy="310896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C9CFD6"/>
            </a:solidFill>
          </a:ln>
          <a:effectLst>
            <a:outerShdw blurRad="101600" dist="381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pSp>
        <p:nvGrpSpPr>
          <p:cNvPr id="20" name="Group 19"/>
          <p:cNvGrpSpPr/>
          <p:nvPr/>
        </p:nvGrpSpPr>
        <p:grpSpPr>
          <a:xfrm rot="90000">
            <a:off x="8001000" y="1874519"/>
            <a:ext cx="2651760" cy="1600201"/>
            <a:chOff x="8001000" y="1874519"/>
            <a:chExt cx="2651760" cy="1600201"/>
          </a:xfrm>
        </p:grpSpPr>
        <p:sp>
          <p:nvSpPr>
            <p:cNvPr id="21" name="TextBox 20"/>
            <p:cNvSpPr txBox="1"/>
            <p:nvPr/>
          </p:nvSpPr>
          <p:spPr>
            <a:xfrm>
              <a:off x="8001000" y="1874519"/>
              <a:ext cx="2651760" cy="320040"/>
            </a:xfrm>
            <a:prstGeom prst="rect">
              <a:avLst/>
            </a:prstGeom>
            <a:noFill/>
          </p:spPr>
          <p:txBody>
            <a:bodyPr wrap="square" lIns="36576" rIns="36576" tIns="36576" bIns="36576" anchor="t">
              <a:spAutoFit/>
            </a:bodyPr>
            <a:lstStyle/>
            <a:p>
              <a:pPr algn="l"/>
              <a:r>
                <a:rPr sz="1300" b="1" i="0">
                  <a:solidFill>
                    <a:srgbClr val="1F2933"/>
                  </a:solidFill>
                  <a:latin typeface="Aptos"/>
                </a:rPr>
                <a:t>Lista de espera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8001000" y="2706624"/>
              <a:ext cx="2651760" cy="0"/>
            </a:xfrm>
            <a:prstGeom prst="line">
              <a:avLst/>
            </a:prstGeom>
            <a:ln w="9525">
              <a:solidFill>
                <a:srgbClr val="D5DB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8046720" y="2377440"/>
              <a:ext cx="2560320" cy="320040"/>
            </a:xfrm>
            <a:prstGeom prst="rect">
              <a:avLst/>
            </a:prstGeom>
            <a:noFill/>
          </p:spPr>
          <p:txBody>
            <a:bodyPr wrap="square" lIns="36576" rIns="36576" tIns="36576" bIns="36576" anchor="t">
              <a:spAutoFit/>
            </a:bodyPr>
            <a:lstStyle/>
            <a:p>
              <a:pPr algn="l"/>
              <a:r>
                <a:rPr sz="1050" b="0" i="0">
                  <a:solidFill>
                    <a:srgbClr val="2B5CAB"/>
                  </a:solidFill>
                  <a:latin typeface="Segoe Print"/>
                </a:rPr>
                <a:t>1. Rui M. — Saramago</a:t>
              </a:r>
            </a:p>
          </p:txBody>
        </p:sp>
        <p:cxnSp>
          <p:nvCxnSpPr>
            <p:cNvPr id="24" name="Connector 23"/>
            <p:cNvCxnSpPr/>
            <p:nvPr/>
          </p:nvCxnSpPr>
          <p:spPr>
            <a:xfrm>
              <a:off x="8001000" y="3090672"/>
              <a:ext cx="2651760" cy="0"/>
            </a:xfrm>
            <a:prstGeom prst="line">
              <a:avLst/>
            </a:prstGeom>
            <a:ln w="9525">
              <a:solidFill>
                <a:srgbClr val="D5DB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8046720" y="2761488"/>
              <a:ext cx="2560320" cy="320040"/>
            </a:xfrm>
            <a:prstGeom prst="rect">
              <a:avLst/>
            </a:prstGeom>
            <a:noFill/>
          </p:spPr>
          <p:txBody>
            <a:bodyPr wrap="square" lIns="36576" rIns="36576" tIns="36576" bIns="36576" anchor="t">
              <a:spAutoFit/>
            </a:bodyPr>
            <a:lstStyle/>
            <a:p>
              <a:pPr algn="l"/>
              <a:r>
                <a:rPr sz="1050" b="0" i="0">
                  <a:solidFill>
                    <a:srgbClr val="2B5CAB"/>
                  </a:solidFill>
                  <a:latin typeface="Segoe Print"/>
                </a:rPr>
                <a:t>2. Ana R. — Mia Couto</a:t>
              </a:r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8001000" y="3474720"/>
              <a:ext cx="2651760" cy="0"/>
            </a:xfrm>
            <a:prstGeom prst="line">
              <a:avLst/>
            </a:prstGeom>
            <a:ln w="9525">
              <a:solidFill>
                <a:srgbClr val="D5DB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8046720" y="3145536"/>
              <a:ext cx="2560320" cy="320040"/>
            </a:xfrm>
            <a:prstGeom prst="rect">
              <a:avLst/>
            </a:prstGeom>
            <a:noFill/>
          </p:spPr>
          <p:txBody>
            <a:bodyPr wrap="square" lIns="36576" rIns="36576" tIns="36576" bIns="36576" anchor="t">
              <a:spAutoFit/>
            </a:bodyPr>
            <a:lstStyle/>
            <a:p>
              <a:pPr algn="l"/>
              <a:r>
                <a:rPr sz="1050" b="0" i="0">
                  <a:solidFill>
                    <a:srgbClr val="2B5CAB"/>
                  </a:solidFill>
                  <a:latin typeface="Segoe Print"/>
                </a:rPr>
                <a:t>3. —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7818120" y="4983480"/>
            <a:ext cx="3017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0" i="0">
                <a:solidFill>
                  <a:srgbClr val="6B7785"/>
                </a:solidFill>
                <a:latin typeface="Aptos"/>
              </a:rPr>
              <a:t>Waiting list: on the desk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8" grpId="0" animBg="1"/>
      <p:bldP spid="19" grpId="0" animBg="1"/>
      <p:bldP spid="20" grpId="0" animBg="1"/>
      <p:bldP spid="28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0">
                <a:solidFill>
                  <a:srgbClr val="1F2933"/>
                </a:solidFill>
                <a:latin typeface="Aptos Display"/>
              </a:rPr>
              <a:t>Contributions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>
                <a:latin typeface="Aptos"/>
              </a:rPr>
              <a:t>‹#›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722376" y="182880"/>
            <a:ext cx="5486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6B7785"/>
                </a:solidFill>
                <a:latin typeface="Aptos"/>
              </a:rPr>
              <a:t>CONTEXT</a:t>
            </a:r>
          </a:p>
        </p:txBody>
      </p:sp>
      <p:sp>
        <p:nvSpPr>
          <p:cNvPr id="5" name="!!src-card"/>
          <p:cNvSpPr/>
          <p:nvPr/>
        </p:nvSpPr>
        <p:spPr>
          <a:xfrm>
            <a:off x="676656" y="169164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76656" y="1691640"/>
            <a:ext cx="3474720" cy="82296"/>
          </a:xfrm>
          <a:prstGeom prst="rect">
            <a:avLst/>
          </a:prstGeom>
          <a:solidFill>
            <a:srgbClr val="C24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50976" y="1920240"/>
            <a:ext cx="13716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400" b="1" i="0">
                <a:solidFill>
                  <a:srgbClr val="96305F"/>
                </a:solidFill>
                <a:latin typeface="Aptos Display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8415" y="20116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8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plagiarism_96305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112264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0976" y="2880360"/>
            <a:ext cx="29260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1F2933"/>
                </a:solidFill>
                <a:latin typeface="Aptos"/>
              </a:rPr>
              <a:t>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429000"/>
            <a:ext cx="292608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6B7785"/>
                </a:solidFill>
                <a:latin typeface="Aptos"/>
              </a:rPr>
              <a:t>What a loan, a reservation and a reminder must record.</a:t>
            </a:r>
          </a:p>
        </p:txBody>
      </p:sp>
      <p:sp>
        <p:nvSpPr>
          <p:cNvPr id="12" name="!!src-sheet"/>
          <p:cNvSpPr/>
          <p:nvPr/>
        </p:nvSpPr>
        <p:spPr>
          <a:xfrm>
            <a:off x="4334256" y="169164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34256" y="1691640"/>
            <a:ext cx="3474720" cy="82296"/>
          </a:xfrm>
          <a:prstGeom prst="rect">
            <a:avLst/>
          </a:prstGeom>
          <a:solidFill>
            <a:srgbClr val="00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08576" y="1920240"/>
            <a:ext cx="13716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400" b="1" i="0">
                <a:solidFill>
                  <a:srgbClr val="0077B6"/>
                </a:solidFill>
                <a:latin typeface="Aptos Display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86016" y="20116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E3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chema_0077B6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112264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08576" y="2880360"/>
            <a:ext cx="29260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1F2933"/>
                </a:solidFill>
                <a:latin typeface="Aptos"/>
              </a:rPr>
              <a:t>Data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3429000"/>
            <a:ext cx="292608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6B7785"/>
                </a:solidFill>
                <a:latin typeface="Aptos"/>
              </a:rPr>
              <a:t>One schema for books, members and loans, with the rules in the database.</a:t>
            </a:r>
          </a:p>
        </p:txBody>
      </p:sp>
      <p:sp>
        <p:nvSpPr>
          <p:cNvPr id="26" name="!!app"/>
          <p:cNvSpPr/>
          <p:nvPr/>
        </p:nvSpPr>
        <p:spPr>
          <a:xfrm>
            <a:off x="7991856" y="169164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!!src-wait"/>
          <p:cNvSpPr/>
          <p:nvPr/>
        </p:nvSpPr>
        <p:spPr>
          <a:xfrm>
            <a:off x="7991856" y="169164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991856" y="1691640"/>
            <a:ext cx="3474720" cy="82296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66176" y="1920240"/>
            <a:ext cx="13716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400" b="1" i="0">
                <a:solidFill>
                  <a:srgbClr val="0A7680"/>
                </a:solidFill>
                <a:latin typeface="Aptos Display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43616" y="20116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D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phone_android_0A7680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2112264"/>
            <a:ext cx="365760" cy="365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66176" y="2880360"/>
            <a:ext cx="29260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1F2933"/>
                </a:solidFill>
                <a:latin typeface="Aptos"/>
              </a:rPr>
              <a:t>Lending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3429000"/>
            <a:ext cx="292608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6B7785"/>
                </a:solidFill>
                <a:latin typeface="Aptos"/>
              </a:rPr>
              <a:t>Phone app for the desk, reservations included, working offline.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0">
                <a:solidFill>
                  <a:srgbClr val="1F2933"/>
                </a:solidFill>
                <a:latin typeface="Aptos Display"/>
              </a:rPr>
              <a:t>Architecture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>
                <a:latin typeface="Aptos"/>
              </a:rPr>
              <a:t>‹#›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722376" y="182880"/>
            <a:ext cx="5486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A7680"/>
                </a:solidFill>
                <a:latin typeface="Aptos"/>
              </a:rPr>
              <a:t>LENDING APP</a:t>
            </a:r>
          </a:p>
        </p:txBody>
      </p:sp>
      <p:sp>
        <p:nvSpPr>
          <p:cNvPr id="5" name="!!app"/>
          <p:cNvSpPr/>
          <p:nvPr/>
        </p:nvSpPr>
        <p:spPr>
          <a:xfrm>
            <a:off x="676656" y="24688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EB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 i="0">
                <a:solidFill>
                  <a:srgbClr val="1F2933"/>
                </a:solidFill>
                <a:latin typeface="Aptos"/>
              </a:rPr>
              <a:t>Phone app</a:t>
            </a:r>
          </a:p>
          <a:p>
            <a:pPr algn="ctr"/>
            <a:r>
              <a:rPr sz="1100" b="0" i="0">
                <a:solidFill>
                  <a:srgbClr val="6B7785"/>
                </a:solidFill>
                <a:latin typeface="Aptos"/>
              </a:rPr>
              <a:t>at the desk</a:t>
            </a:r>
          </a:p>
        </p:txBody>
      </p:sp>
      <p:sp>
        <p:nvSpPr>
          <p:cNvPr id="6" name="!!api"/>
          <p:cNvSpPr/>
          <p:nvPr/>
        </p:nvSpPr>
        <p:spPr>
          <a:xfrm>
            <a:off x="3977639" y="246888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EB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api-t"/>
          <p:cNvSpPr txBox="1"/>
          <p:nvPr/>
        </p:nvSpPr>
        <p:spPr>
          <a:xfrm>
            <a:off x="3977639" y="2880360"/>
            <a:ext cx="329184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1F2933"/>
                </a:solidFill>
                <a:latin typeface="Aptos"/>
              </a:rPr>
              <a:t>Backend</a:t>
            </a:r>
          </a:p>
        </p:txBody>
      </p:sp>
      <p:sp>
        <p:nvSpPr>
          <p:cNvPr id="8" name="!!db"/>
          <p:cNvSpPr/>
          <p:nvPr/>
        </p:nvSpPr>
        <p:spPr>
          <a:xfrm>
            <a:off x="8595360" y="246888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3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 i="0">
                <a:solidFill>
                  <a:srgbClr val="0077B6"/>
                </a:solidFill>
                <a:latin typeface="Aptos"/>
              </a:rPr>
              <a:t>Database</a:t>
            </a:r>
          </a:p>
          <a:p>
            <a:pPr algn="ctr"/>
            <a:r>
              <a:rPr sz="1100" b="0" i="0">
                <a:solidFill>
                  <a:srgbClr val="0077B6"/>
                </a:solidFill>
                <a:latin typeface="Aptos"/>
              </a:rPr>
              <a:t>books, members, loans</a:t>
            </a:r>
          </a:p>
        </p:txBody>
      </p:sp>
      <p:cxnSp>
        <p:nvCxnSpPr>
          <p:cNvPr id="9" name="!!a1"/>
          <p:cNvCxnSpPr/>
          <p:nvPr/>
        </p:nvCxnSpPr>
        <p:spPr>
          <a:xfrm>
            <a:off x="3054096" y="3154680"/>
            <a:ext cx="923543" cy="0"/>
          </a:xfrm>
          <a:prstGeom prst="line">
            <a:avLst/>
          </a:prstGeom>
          <a:ln w="22225">
            <a:solidFill>
              <a:srgbClr val="AEB6B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a2"/>
          <p:cNvCxnSpPr/>
          <p:nvPr/>
        </p:nvCxnSpPr>
        <p:spPr>
          <a:xfrm>
            <a:off x="7269480" y="3154680"/>
            <a:ext cx="1325880" cy="0"/>
          </a:xfrm>
          <a:prstGeom prst="line">
            <a:avLst/>
          </a:prstGeom>
          <a:ln w="22225">
            <a:solidFill>
              <a:srgbClr val="AEB6B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1292840" y="22677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5DBE1"/>
            </a:solidFill>
          </a:ln>
          <a:effectLst>
            <a:outerShdw blurRad="50800" dist="12700" dir="5400000" algn="t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ostgresql_4169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1968" y="2336840"/>
            <a:ext cx="245790" cy="245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  <p:bldP spid="7" grpId="0" animBg="1"/>
      <p:bldP spid="10" grpId="0" animBg="1"/>
      <p:bldP spid="8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0">
                <a:solidFill>
                  <a:srgbClr val="1F2933"/>
                </a:solidFill>
                <a:latin typeface="Aptos Display"/>
              </a:rPr>
              <a:t>Every loan is checked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>
                <a:latin typeface="Aptos"/>
              </a:rPr>
              <a:t>‹#›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722376" y="182880"/>
            <a:ext cx="5486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A7680"/>
                </a:solidFill>
                <a:latin typeface="Aptos"/>
              </a:rPr>
              <a:t>LENDING APP</a:t>
            </a:r>
          </a:p>
        </p:txBody>
      </p:sp>
      <p:sp>
        <p:nvSpPr>
          <p:cNvPr id="5" name="!!app"/>
          <p:cNvSpPr/>
          <p:nvPr/>
        </p:nvSpPr>
        <p:spPr>
          <a:xfrm>
            <a:off x="676656" y="24688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EB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 i="0">
                <a:solidFill>
                  <a:srgbClr val="1F2933"/>
                </a:solidFill>
                <a:latin typeface="Aptos"/>
              </a:rPr>
              <a:t>Phone app</a:t>
            </a:r>
          </a:p>
          <a:p>
            <a:pPr algn="ctr"/>
            <a:r>
              <a:rPr sz="1100" b="0" i="0">
                <a:solidFill>
                  <a:srgbClr val="6B7785"/>
                </a:solidFill>
                <a:latin typeface="Aptos"/>
              </a:rPr>
              <a:t>at the desk</a:t>
            </a:r>
          </a:p>
        </p:txBody>
      </p:sp>
      <p:sp>
        <p:nvSpPr>
          <p:cNvPr id="6" name="!!api"/>
          <p:cNvSpPr/>
          <p:nvPr/>
        </p:nvSpPr>
        <p:spPr>
          <a:xfrm>
            <a:off x="3657600" y="1691640"/>
            <a:ext cx="393192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AEB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!!api-t"/>
          <p:cNvSpPr txBox="1"/>
          <p:nvPr/>
        </p:nvSpPr>
        <p:spPr>
          <a:xfrm>
            <a:off x="3886200" y="1783080"/>
            <a:ext cx="27432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Aptos"/>
              </a:rPr>
              <a:t>Backend</a:t>
            </a:r>
          </a:p>
        </p:txBody>
      </p:sp>
      <p:sp>
        <p:nvSpPr>
          <p:cNvPr id="8" name="!!db"/>
          <p:cNvSpPr/>
          <p:nvPr/>
        </p:nvSpPr>
        <p:spPr>
          <a:xfrm>
            <a:off x="8595360" y="246888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3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 i="0">
                <a:solidFill>
                  <a:srgbClr val="0077B6"/>
                </a:solidFill>
                <a:latin typeface="Aptos"/>
              </a:rPr>
              <a:t>Database</a:t>
            </a:r>
          </a:p>
          <a:p>
            <a:pPr algn="ctr"/>
            <a:r>
              <a:rPr sz="1100" b="0" i="0">
                <a:solidFill>
                  <a:srgbClr val="0077B6"/>
                </a:solidFill>
                <a:latin typeface="Aptos"/>
              </a:rPr>
              <a:t>books, members, loans</a:t>
            </a:r>
          </a:p>
        </p:txBody>
      </p:sp>
      <p:cxnSp>
        <p:nvCxnSpPr>
          <p:cNvPr id="9" name="!!a1"/>
          <p:cNvCxnSpPr/>
          <p:nvPr/>
        </p:nvCxnSpPr>
        <p:spPr>
          <a:xfrm>
            <a:off x="3054096" y="3154680"/>
            <a:ext cx="603504" cy="0"/>
          </a:xfrm>
          <a:prstGeom prst="line">
            <a:avLst/>
          </a:prstGeom>
          <a:ln w="22225">
            <a:solidFill>
              <a:srgbClr val="AEB6B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a2"/>
          <p:cNvCxnSpPr/>
          <p:nvPr/>
        </p:nvCxnSpPr>
        <p:spPr>
          <a:xfrm>
            <a:off x="7589520" y="3154680"/>
            <a:ext cx="1005840" cy="0"/>
          </a:xfrm>
          <a:prstGeom prst="line">
            <a:avLst/>
          </a:prstGeom>
          <a:ln w="22225">
            <a:solidFill>
              <a:srgbClr val="AEB6B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login_45535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2423160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89120" y="2377440"/>
            <a:ext cx="3017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Aptos"/>
              </a:rPr>
              <a:t>Signed in</a:t>
            </a:r>
          </a:p>
        </p:txBody>
      </p:sp>
      <p:pic>
        <p:nvPicPr>
          <p:cNvPr id="13" name="Picture 12" descr="admin_panel_settings_45535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3154680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89120" y="3108960"/>
            <a:ext cx="3017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Aptos"/>
              </a:rPr>
              <a:t>Allowed to lend</a:t>
            </a:r>
          </a:p>
        </p:txBody>
      </p:sp>
      <p:pic>
        <p:nvPicPr>
          <p:cNvPr id="15" name="Picture 14" descr="menu_book_45535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3886200"/>
            <a:ext cx="329184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89120" y="3840480"/>
            <a:ext cx="3017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Aptos"/>
              </a:rPr>
              <a:t>Book is on the shelf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466344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B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150" b="1" i="0">
                <a:solidFill>
                  <a:srgbClr val="A12F2F"/>
                </a:solidFill>
                <a:latin typeface="Aptos"/>
              </a:rPr>
              <a:t>Lent twice? Refused by the database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0">
                <a:solidFill>
                  <a:srgbClr val="1F2933"/>
                </a:solidFill>
                <a:latin typeface="Aptos Display"/>
              </a:rPr>
              <a:t>Returning a book without network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>
                <a:latin typeface="Aptos"/>
              </a:rPr>
              <a:t>‹#›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722376" y="182880"/>
            <a:ext cx="5486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A7680"/>
                </a:solidFill>
                <a:latin typeface="Aptos"/>
              </a:rPr>
              <a:t>LENDING APP</a:t>
            </a:r>
          </a:p>
        </p:txBody>
      </p:sp>
      <p:sp>
        <p:nvSpPr>
          <p:cNvPr id="5" name="!!app"/>
          <p:cNvSpPr/>
          <p:nvPr/>
        </p:nvSpPr>
        <p:spPr>
          <a:xfrm>
            <a:off x="676656" y="1691640"/>
            <a:ext cx="2560320" cy="3931920"/>
          </a:xfrm>
          <a:prstGeom prst="roundRect">
            <a:avLst>
              <a:gd name="adj" fmla="val 6000"/>
            </a:avLst>
          </a:prstGeom>
          <a:solidFill>
            <a:srgbClr val="DC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phone_android_0A768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228600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" y="3383280"/>
            <a:ext cx="25603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0A7680"/>
                </a:solidFill>
                <a:latin typeface="Aptos"/>
              </a:rPr>
              <a:t>Phone app</a:t>
            </a:r>
          </a:p>
          <a:p>
            <a:pPr algn="ctr"/>
            <a:r>
              <a:rPr sz="1200" b="0" i="0">
                <a:solidFill>
                  <a:srgbClr val="0A7680"/>
                </a:solidFill>
                <a:latin typeface="Aptos"/>
              </a:rPr>
              <a:t>at the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loud_off_FFFFFF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59" y="1783080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89120" y="1645920"/>
            <a:ext cx="68580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Aptos"/>
              </a:rPr>
              <a:t>No network</a:t>
            </a:r>
          </a:p>
          <a:p>
            <a:pPr algn="l"/>
            <a:r>
              <a:rPr sz="1250" b="0" i="0">
                <a:solidFill>
                  <a:srgbClr val="6B7785"/>
                </a:solidFill>
                <a:latin typeface="Aptos"/>
              </a:rPr>
              <a:t>The return is recorded on the phone.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51760"/>
            <a:ext cx="68580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Aptos"/>
              </a:rPr>
              <a:t>Saved on the phone</a:t>
            </a:r>
          </a:p>
          <a:p>
            <a:pPr algn="l"/>
            <a:r>
              <a:rPr sz="1250" b="0" i="0">
                <a:solidFill>
                  <a:srgbClr val="6B7785"/>
                </a:solidFill>
                <a:latin typeface="Aptos"/>
              </a:rPr>
              <a:t>It waits in an outbox, in order.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657600"/>
            <a:ext cx="68580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Aptos"/>
              </a:rPr>
              <a:t>Connection returns</a:t>
            </a:r>
          </a:p>
          <a:p>
            <a:pPr algn="l"/>
            <a:r>
              <a:rPr sz="1250" b="0" i="0">
                <a:solidFill>
                  <a:srgbClr val="6B7785"/>
                </a:solidFill>
                <a:latin typeface="Aptos"/>
              </a:rPr>
              <a:t>The outbox is sent; rejected records are shown.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663440"/>
            <a:ext cx="68580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Aptos"/>
              </a:rPr>
              <a:t>Sent twice? Refused</a:t>
            </a:r>
          </a:p>
          <a:p>
            <a:pPr algn="l"/>
            <a:r>
              <a:rPr sz="1250" b="0" i="0">
                <a:solidFill>
                  <a:srgbClr val="6B7785"/>
                </a:solidFill>
                <a:latin typeface="Aptos"/>
              </a:rPr>
              <a:t>The database refuses a second copy.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31920" y="2148840"/>
            <a:ext cx="0" cy="548640"/>
          </a:xfrm>
          <a:prstGeom prst="line">
            <a:avLst/>
          </a:prstGeom>
          <a:ln w="25400">
            <a:solidFill>
              <a:srgbClr val="D5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67911" y="2788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455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3703320" y="2697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55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ave_FFFFFF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59" y="2788920"/>
            <a:ext cx="274320" cy="274320"/>
          </a:xfrm>
          <a:prstGeom prst="rect">
            <a:avLst/>
          </a:prstGeom>
        </p:spPr>
      </p:pic>
      <p:cxnSp>
        <p:nvCxnSpPr>
          <p:cNvPr id="22" name="Connector 21"/>
          <p:cNvCxnSpPr/>
          <p:nvPr/>
        </p:nvCxnSpPr>
        <p:spPr>
          <a:xfrm>
            <a:off x="3931920" y="3154680"/>
            <a:ext cx="0" cy="548640"/>
          </a:xfrm>
          <a:prstGeom prst="line">
            <a:avLst/>
          </a:prstGeom>
          <a:ln w="25400">
            <a:solidFill>
              <a:srgbClr val="D5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867911" y="37947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455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370332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sync_FFFFFF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59" y="3794760"/>
            <a:ext cx="274320" cy="274320"/>
          </a:xfrm>
          <a:prstGeom prst="rect">
            <a:avLst/>
          </a:prstGeom>
        </p:spPr>
      </p:pic>
      <p:cxnSp>
        <p:nvCxnSpPr>
          <p:cNvPr id="24" name="Connector 23"/>
          <p:cNvCxnSpPr/>
          <p:nvPr/>
        </p:nvCxnSpPr>
        <p:spPr>
          <a:xfrm>
            <a:off x="3931920" y="4160520"/>
            <a:ext cx="0" cy="548640"/>
          </a:xfrm>
          <a:prstGeom prst="line">
            <a:avLst/>
          </a:prstGeom>
          <a:ln w="25400">
            <a:solidFill>
              <a:srgbClr val="D5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867911" y="48006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455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3703320" y="47091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block_FFFFFF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4759" y="4800600"/>
            <a:ext cx="274320" cy="274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40000" decel="4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 -0.1027 L 0.0000 0.0000 E" pathEditMode="relative" rAng="0" ptsTypes="">
                                      <p:cBhvr>
                                        <p:cTn id="23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80"/>
                            </p:stCondLst>
                            <p:childTnLst>
                              <p:par>
                                <p:cTn id="2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0" presetClass="path" presetSubtype="0" accel="40000" decel="4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 -0.1027 L 0.0000 0.0000 E" pathEditMode="relative" rAng="0" ptsTypes="">
                                      <p:cBhvr>
                                        <p:cTn id="49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80"/>
                            </p:stCondLst>
                            <p:childTnLst>
                              <p:par>
                                <p:cTn id="5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3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0" presetClass="path" presetSubtype="0" accel="40000" decel="4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 -0.1027 L 0.0000 0.0000 E" pathEditMode="relative" rAng="0" ptsTypes="">
                                      <p:cBhvr>
                                        <p:cTn id="75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80"/>
                            </p:stCondLst>
                            <p:childTnLst>
                              <p:par>
                                <p:cTn id="7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20" grpId="0" animBg="1"/>
      <p:bldP spid="21" grpId="0" animBg="1"/>
      <p:bldP spid="21" grpId="1" animBg="1"/>
      <p:bldP spid="11" grpId="0" animBg="1"/>
      <p:bldP spid="12" grpId="0" animBg="1"/>
      <p:bldP spid="13" grpId="0" animBg="1"/>
      <p:bldP spid="22" grpId="0" animBg="1"/>
      <p:bldP spid="23" grpId="0" animBg="1"/>
      <p:bldP spid="23" grpId="1" animBg="1"/>
      <p:bldP spid="14" grpId="0" animBg="1"/>
      <p:bldP spid="15" grpId="0" animBg="1"/>
      <p:bldP spid="16" grpId="0" animBg="1"/>
      <p:bldP spid="24" grpId="0" animBg="1"/>
      <p:bldP spid="25" grpId="0" animBg="1"/>
      <p:bldP spid="25" grpId="1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0">
                <a:solidFill>
                  <a:srgbClr val="1F2933"/>
                </a:solidFill>
                <a:latin typeface="Aptos Display"/>
              </a:rPr>
              <a:t>Response times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>
                <a:latin typeface="Aptos"/>
              </a:rPr>
              <a:t>‹#›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722376" y="182880"/>
            <a:ext cx="5486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6B7785"/>
                </a:solidFill>
                <a:latin typeface="Aptos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103120"/>
            <a:ext cx="25603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Aptos"/>
              </a:rPr>
              <a:t>Open a member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148839"/>
            <a:ext cx="4572000" cy="292608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3291840" y="2148839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25312" y="2103120"/>
            <a:ext cx="9144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F2933"/>
                </a:solidFill>
                <a:latin typeface="Aptos"/>
              </a:rPr>
              <a:t>0.42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2592" y="2103120"/>
            <a:ext cx="7315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Aptos"/>
              </a:rPr>
              <a:t>0.6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880360"/>
            <a:ext cx="25603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Aptos"/>
              </a:rPr>
              <a:t>Record a loan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926079"/>
            <a:ext cx="4572000" cy="292608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291840" y="2926079"/>
            <a:ext cx="1889760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254752" y="2880360"/>
            <a:ext cx="9144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F2933"/>
                </a:solidFill>
                <a:latin typeface="Aptos"/>
              </a:rPr>
              <a:t>0.31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2880360"/>
            <a:ext cx="7315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Aptos"/>
              </a:rPr>
              <a:t>0.6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657600"/>
            <a:ext cx="25603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F2933"/>
                </a:solidFill>
                <a:latin typeface="Aptos"/>
              </a:rPr>
              <a:t>Search the catalogue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3703320"/>
            <a:ext cx="4572000" cy="292608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3291840" y="370332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91072" y="3657600"/>
            <a:ext cx="9144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F2933"/>
                </a:solidFill>
                <a:latin typeface="Aptos"/>
              </a:rPr>
              <a:t>0.48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3657600"/>
            <a:ext cx="7315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Aptos"/>
              </a:rPr>
              <a:t>0.6 s</a:t>
            </a:r>
          </a:p>
        </p:txBody>
      </p:sp>
      <p:cxnSp>
        <p:nvCxnSpPr>
          <p:cNvPr id="20" name="!!limit"/>
          <p:cNvCxnSpPr/>
          <p:nvPr/>
        </p:nvCxnSpPr>
        <p:spPr>
          <a:xfrm>
            <a:off x="6949440" y="1965960"/>
            <a:ext cx="0" cy="2377440"/>
          </a:xfrm>
          <a:prstGeom prst="line">
            <a:avLst/>
          </a:prstGeom>
          <a:ln w="19050">
            <a:solidFill>
              <a:srgbClr val="1F29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!!limit-t"/>
          <p:cNvSpPr txBox="1"/>
          <p:nvPr/>
        </p:nvSpPr>
        <p:spPr>
          <a:xfrm>
            <a:off x="6035040" y="4379976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1F2933"/>
                </a:solidFill>
                <a:latin typeface="Aptos"/>
              </a:rPr>
              <a:t>target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0">
                <a:solidFill>
                  <a:srgbClr val="1F2933"/>
                </a:solidFill>
                <a:latin typeface="Aptos Display"/>
              </a:rPr>
              <a:t>Under load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>
                <a:latin typeface="Aptos"/>
              </a:rPr>
              <a:t>‹#›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722376" y="182880"/>
            <a:ext cx="5486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6B7785"/>
                </a:solidFill>
                <a:latin typeface="Aptos"/>
              </a:rPr>
              <a:t>EVALUATION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16736" y="5303520"/>
            <a:ext cx="6400800" cy="0"/>
          </a:xfrm>
          <a:prstGeom prst="line">
            <a:avLst/>
          </a:prstGeom>
          <a:ln w="9525">
            <a:solidFill>
              <a:srgbClr val="E6EA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316736" y="4145280"/>
            <a:ext cx="6400800" cy="0"/>
          </a:xfrm>
          <a:prstGeom prst="line">
            <a:avLst/>
          </a:prstGeom>
          <a:ln w="9525">
            <a:solidFill>
              <a:srgbClr val="E6EA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16736" y="2987040"/>
            <a:ext cx="6400800" cy="0"/>
          </a:xfrm>
          <a:prstGeom prst="line">
            <a:avLst/>
          </a:prstGeom>
          <a:ln w="9525">
            <a:solidFill>
              <a:srgbClr val="E6EA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16736" y="1828800"/>
            <a:ext cx="6400800" cy="0"/>
          </a:xfrm>
          <a:prstGeom prst="line">
            <a:avLst/>
          </a:prstGeom>
          <a:ln w="9525">
            <a:solidFill>
              <a:srgbClr val="E6EA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8096" y="5166359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Aptos"/>
              </a:rPr>
              <a:t>0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008119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Aptos"/>
              </a:rPr>
              <a:t>0.4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84988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Aptos"/>
              </a:rPr>
              <a:t>0.8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69164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Aptos"/>
              </a:rPr>
              <a:t>1.2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5349240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6B7785"/>
                </a:solidFill>
                <a:latin typeface="Aptos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6016" y="5349240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6B7785"/>
                </a:solidFill>
                <a:latin typeface="Aptos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9616" y="5349240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6B7785"/>
                </a:solidFill>
                <a:latin typeface="Aptos"/>
              </a:rP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3215" y="5349240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6B7785"/>
                </a:solidFill>
                <a:latin typeface="Aptos"/>
              </a:rPr>
              <a:t>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5596128"/>
            <a:ext cx="6400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6B7785"/>
                </a:solidFill>
                <a:latin typeface="Aptos"/>
              </a:rPr>
              <a:t>loans per minute</a:t>
            </a:r>
          </a:p>
        </p:txBody>
      </p:sp>
      <p:cxnSp>
        <p:nvCxnSpPr>
          <p:cNvPr id="18" name="!!limit"/>
          <p:cNvCxnSpPr/>
          <p:nvPr/>
        </p:nvCxnSpPr>
        <p:spPr>
          <a:xfrm>
            <a:off x="1316736" y="3566160"/>
            <a:ext cx="6400800" cy="0"/>
          </a:xfrm>
          <a:prstGeom prst="line">
            <a:avLst/>
          </a:prstGeom>
          <a:ln w="19050">
            <a:solidFill>
              <a:srgbClr val="1F29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!!limit-t"/>
          <p:cNvSpPr txBox="1"/>
          <p:nvPr/>
        </p:nvSpPr>
        <p:spPr>
          <a:xfrm>
            <a:off x="1362456" y="327355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F2933"/>
                </a:solidFill>
                <a:latin typeface="Aptos"/>
              </a:rPr>
              <a:t>target</a:t>
            </a:r>
          </a:p>
        </p:txBody>
      </p:sp>
      <p:sp>
        <p:nvSpPr>
          <p:cNvPr id="20" name="Freeform 19"/>
          <p:cNvSpPr/>
          <p:nvPr/>
        </p:nvSpPr>
        <p:spPr>
          <a:xfrm>
            <a:off x="1850136" y="4145280"/>
            <a:ext cx="5334000" cy="810768"/>
          </a:xfrm>
          <a:custGeom>
            <a:avLst/>
            <a:gdLst/>
            <a:ahLst/>
            <a:cxnLst/>
            <a:rect l="l" t="t" r="r" b="b"/>
            <a:pathLst>
              <a:path w="5334000" h="810768">
                <a:moveTo>
                  <a:pt x="0" y="810768"/>
                </a:moveTo>
                <a:lnTo>
                  <a:pt x="1066800" y="781811"/>
                </a:lnTo>
                <a:lnTo>
                  <a:pt x="2133600" y="723899"/>
                </a:lnTo>
                <a:lnTo>
                  <a:pt x="3200400" y="637032"/>
                </a:lnTo>
                <a:lnTo>
                  <a:pt x="4267200" y="463296"/>
                </a:lnTo>
                <a:lnTo>
                  <a:pt x="5334000" y="0"/>
                </a:lnTo>
              </a:path>
            </a:pathLst>
          </a:custGeom>
          <a:noFill/>
          <a:ln w="25400">
            <a:solidFill>
              <a:srgbClr val="9FB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850136" y="2929128"/>
            <a:ext cx="5334000" cy="1795271"/>
          </a:xfrm>
          <a:custGeom>
            <a:avLst/>
            <a:gdLst/>
            <a:ahLst/>
            <a:cxnLst/>
            <a:rect l="l" t="t" r="r" b="b"/>
            <a:pathLst>
              <a:path w="5334000" h="1795271">
                <a:moveTo>
                  <a:pt x="0" y="1795271"/>
                </a:moveTo>
                <a:lnTo>
                  <a:pt x="1066800" y="1737360"/>
                </a:lnTo>
                <a:lnTo>
                  <a:pt x="2133600" y="1621536"/>
                </a:lnTo>
                <a:lnTo>
                  <a:pt x="3200400" y="1418844"/>
                </a:lnTo>
                <a:lnTo>
                  <a:pt x="4267200" y="1071372"/>
                </a:lnTo>
                <a:lnTo>
                  <a:pt x="5334000" y="0"/>
                </a:lnTo>
              </a:path>
            </a:pathLst>
          </a:custGeom>
          <a:noFill/>
          <a:ln w="38100">
            <a:solidFill>
              <a:srgbClr val="1B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62456" y="1874519"/>
            <a:ext cx="22860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B2A38"/>
                </a:solidFill>
                <a:latin typeface="Aptos"/>
              </a:rPr>
              <a:t>— slowest 5%</a:t>
            </a:r>
          </a:p>
          <a:p>
            <a:pPr algn="l"/>
            <a:r>
              <a:rPr sz="1050" b="1" i="0">
                <a:solidFill>
                  <a:srgbClr val="8A9DB0"/>
                </a:solidFill>
                <a:latin typeface="Aptos"/>
              </a:rPr>
              <a:t>— median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1828800"/>
            <a:ext cx="3108960" cy="128016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595360" y="1920240"/>
            <a:ext cx="283464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23794A"/>
                </a:solidFill>
                <a:latin typeface="Aptos"/>
              </a:rPr>
              <a:t>45 / min</a:t>
            </a:r>
          </a:p>
          <a:p>
            <a:pPr algn="l"/>
            <a:r>
              <a:rPr sz="1200" b="0" i="0">
                <a:solidFill>
                  <a:srgbClr val="1F2933"/>
                </a:solidFill>
                <a:latin typeface="Aptos"/>
              </a:rPr>
              <a:t>within target, no errors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1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0">
                <a:solidFill>
                  <a:srgbClr val="1F2933"/>
                </a:solidFill>
                <a:latin typeface="Aptos Display"/>
              </a:rPr>
              <a:t>Conclusion: from two sources to one platform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>
                <a:latin typeface="Aptos"/>
              </a:rPr>
              <a:t>‹#›</a:t>
            </a:fld>
          </a:p>
        </p:txBody>
      </p:sp>
      <p:sp>
        <p:nvSpPr>
          <p:cNvPr id="4" name="TextBox 3"/>
          <p:cNvSpPr txBox="1"/>
          <p:nvPr/>
        </p:nvSpPr>
        <p:spPr>
          <a:xfrm>
            <a:off x="722376" y="182880"/>
            <a:ext cx="5486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6B7785"/>
                </a:solidFill>
                <a:latin typeface="Aptos"/>
              </a:rP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783080"/>
            <a:ext cx="1554480" cy="2194560"/>
          </a:xfrm>
          <a:prstGeom prst="roundRect">
            <a:avLst>
              <a:gd name="adj" fmla="val 8000"/>
            </a:avLst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76656" y="2834640"/>
            <a:ext cx="15544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1" i="0">
                <a:solidFill>
                  <a:srgbClr val="1F2933"/>
                </a:solidFill>
                <a:latin typeface="Aptos"/>
              </a:rPr>
              <a:t>Spreadsheet</a:t>
            </a:r>
          </a:p>
          <a:p>
            <a:pPr algn="ctr"/>
            <a:r>
              <a:rPr sz="1250" b="1" i="0">
                <a:solidFill>
                  <a:srgbClr val="1F2933"/>
                </a:solidFill>
                <a:latin typeface="Aptos"/>
              </a:rPr>
              <a:t>+ paper</a:t>
            </a:r>
          </a:p>
        </p:txBody>
      </p:sp>
      <p:pic>
        <p:nvPicPr>
          <p:cNvPr id="7" name="Picture 6" descr="table_view_B35F1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2011680"/>
            <a:ext cx="548640" cy="548640"/>
          </a:xfrm>
          <a:prstGeom prst="rect">
            <a:avLst/>
          </a:prstGeom>
        </p:spPr>
      </p:pic>
      <p:sp>
        <p:nvSpPr>
          <p:cNvPr id="8" name="Pentagon 7"/>
          <p:cNvSpPr/>
          <p:nvPr/>
        </p:nvSpPr>
        <p:spPr>
          <a:xfrm>
            <a:off x="2423160" y="2514600"/>
            <a:ext cx="1828800" cy="731520"/>
          </a:xfrm>
          <a:prstGeom prst="homePlate">
            <a:avLst>
              <a:gd name="adj" fmla="val 28000"/>
            </a:avLst>
          </a:prstGeom>
          <a:solidFill>
            <a:srgbClr val="C24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Map</a:t>
            </a:r>
          </a:p>
        </p:txBody>
      </p:sp>
      <p:sp>
        <p:nvSpPr>
          <p:cNvPr id="9" name="Chevron 8"/>
          <p:cNvSpPr/>
          <p:nvPr/>
        </p:nvSpPr>
        <p:spPr>
          <a:xfrm>
            <a:off x="4297679" y="2514600"/>
            <a:ext cx="1828800" cy="731520"/>
          </a:xfrm>
          <a:prstGeom prst="chevron">
            <a:avLst>
              <a:gd name="adj" fmla="val 28000"/>
            </a:avLst>
          </a:prstGeom>
          <a:solidFill>
            <a:srgbClr val="009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10" name="Chevron 9"/>
          <p:cNvSpPr/>
          <p:nvPr/>
        </p:nvSpPr>
        <p:spPr>
          <a:xfrm>
            <a:off x="6172200" y="2514600"/>
            <a:ext cx="1828800" cy="731520"/>
          </a:xfrm>
          <a:prstGeom prst="chevron">
            <a:avLst>
              <a:gd name="adj" fmla="val 28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Build</a:t>
            </a:r>
          </a:p>
        </p:txBody>
      </p:sp>
      <p:sp>
        <p:nvSpPr>
          <p:cNvPr id="11" name="Chevron 10"/>
          <p:cNvSpPr/>
          <p:nvPr/>
        </p:nvSpPr>
        <p:spPr>
          <a:xfrm>
            <a:off x="8046719" y="2514600"/>
            <a:ext cx="1828800" cy="731520"/>
          </a:xfrm>
          <a:prstGeom prst="chevron">
            <a:avLst>
              <a:gd name="adj" fmla="val 28000"/>
            </a:avLst>
          </a:prstGeom>
          <a:solidFill>
            <a:srgbClr val="455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0" y="1783080"/>
            <a:ext cx="1554480" cy="2194560"/>
          </a:xfrm>
          <a:prstGeom prst="roundRect">
            <a:avLst>
              <a:gd name="adj" fmla="val 8000"/>
            </a:avLst>
          </a:prstGeom>
          <a:solidFill>
            <a:srgbClr val="DF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devices_23794A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2011680"/>
            <a:ext cx="640080" cy="640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66960" y="2834640"/>
            <a:ext cx="15544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1" i="0">
                <a:solidFill>
                  <a:srgbClr val="1F2933"/>
                </a:solidFill>
                <a:latin typeface="Aptos"/>
              </a:rPr>
              <a:t>One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4480560"/>
            <a:ext cx="3291840" cy="548640"/>
          </a:xfrm>
          <a:prstGeom prst="roundRect">
            <a:avLst>
              <a:gd name="adj" fmla="val 50000"/>
            </a:avLst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400" b="0" i="0">
                <a:solidFill>
                  <a:srgbClr val="B35F12"/>
                </a:solidFill>
                <a:latin typeface="Aptos"/>
              </a:rPr>
              <a:t>Before: one book, two records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05656" y="4754880"/>
            <a:ext cx="640080" cy="0"/>
          </a:xfrm>
          <a:prstGeom prst="line">
            <a:avLst/>
          </a:prstGeom>
          <a:ln w="28575">
            <a:solidFill>
              <a:srgbClr val="45535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82896" y="4480560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Now: one book, one record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